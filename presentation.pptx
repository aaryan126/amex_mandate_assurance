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6" r:id="rId3"/>
    <p:sldId id="257" r:id="rId4"/>
    <p:sldId id="271" r:id="rId5"/>
    <p:sldId id="277" r:id="rId6"/>
    <p:sldId id="278" r:id="rId7"/>
    <p:sldId id="279" r:id="rId8"/>
    <p:sldId id="281" r:id="rId9"/>
    <p:sldId id="286" r:id="rId10"/>
    <p:sldId id="283" r:id="rId11"/>
    <p:sldId id="284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3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5"/>
    <p:restoredTop sz="86770"/>
  </p:normalViewPr>
  <p:slideViewPr>
    <p:cSldViewPr snapToGrid="0">
      <p:cViewPr>
        <p:scale>
          <a:sx n="138" d="100"/>
          <a:sy n="138" d="100"/>
        </p:scale>
        <p:origin x="152" y="448"/>
      </p:cViewPr>
      <p:guideLst>
        <p:guide orient="horz" pos="162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9f2301b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g349f2301b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A5ACAF5-45DE-971E-E022-74BF118E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879AA08B-525D-46C3-EF0E-BB177C869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B44D4F4C-A3C1-B0E6-82C2-69C51A25E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5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74F66E5-8986-5056-D86E-5B5F4260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52A42F86-A1E7-07A5-95D7-205648E42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EE465632-BA2A-F5E1-0A44-A81236937B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~2 mins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26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F2128A7-0FB9-9475-0572-4BF1DAFE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B9AEDA09-0AEA-B764-68DD-ED5B19139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969E092D-0307-4035-2562-240AD6714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64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EC2360A-C6A8-182D-7756-C3AEF22A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ED9C7E3B-E664-BAA7-B888-EB029BC63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D23F04C7-EB82-96C2-658A-DD0F335D9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~2 mins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59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81C73EA-C91C-9394-809C-631753A7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35A0035B-E565-4FF6-82BA-EF0130712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5079EB1D-984D-2E37-23C7-2A74CEDC4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~2 mins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D94EE89-DCA7-0531-204F-78EEEF90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F4585F16-5E1A-5587-E96D-333BF28C3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F3B3B319-70CA-4444-7DB7-4355FF5E27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50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275B207-0868-5A2E-1F7A-48BA139A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825D35EC-0E75-DF77-00DF-F891FCE5D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43814635-0C39-196E-5F4C-81A6D3736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529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C1D97C0-3A5E-2AEB-89E4-1B1750F9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1F4FB389-5014-79F4-7C69-C7F5D21D62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7D9DB979-369B-B694-F2B4-A710A5AD7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048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FB76500-F3E1-2821-F2B0-65FC92D5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9f2301b58_0_29:notes">
            <a:extLst>
              <a:ext uri="{FF2B5EF4-FFF2-40B4-BE49-F238E27FC236}">
                <a16:creationId xmlns:a16="http://schemas.microsoft.com/office/drawing/2014/main" id="{BA09A9FE-12D8-1034-DEA4-306D0B1FC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49f2301b58_0_29:notes">
            <a:extLst>
              <a:ext uri="{FF2B5EF4-FFF2-40B4-BE49-F238E27FC236}">
                <a16:creationId xmlns:a16="http://schemas.microsoft.com/office/drawing/2014/main" id="{EDF67A4A-5DCF-947D-4141-94587CF2D0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80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hyperlink" Target="https://www.americanexpress.com/content/dam/amex/us/merchant/pdf/bcfm/PYMNTS-Recovering-Revenue-Tracker-August-2024.pdf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8400" y="-7620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94950" y="2109887"/>
            <a:ext cx="8354100" cy="68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 Commerce Integrity Layer</a:t>
            </a:r>
            <a:endParaRPr sz="3600" u="sng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613504" y="2894409"/>
            <a:ext cx="5916992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Aptos" panose="020B0004020202020204" pitchFamily="34" charset="0"/>
              </a:rPr>
              <a:t>American Express - Innovation Labs Hackathon 2026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Aptos" panose="020B0004020202020204" pitchFamily="34" charset="0"/>
              </a:rPr>
              <a:t>Aaryan Kandiah (Master of Computing @ NUS)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800" b="1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  <p:pic>
        <p:nvPicPr>
          <p:cNvPr id="2" name="Graphic 1" descr="American Express - Innovation Labs Hackathon Singapore 2026 Organizer Logo">
            <a:extLst>
              <a:ext uri="{FF2B5EF4-FFF2-40B4-BE49-F238E27FC236}">
                <a16:creationId xmlns:a16="http://schemas.microsoft.com/office/drawing/2014/main" id="{174EC738-E148-7F28-7BBA-FB0A5FB3C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3497" y="3822325"/>
            <a:ext cx="1680100" cy="1680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D4B9056-C1AE-E716-7CC3-99DCBF89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D301BCD-6AFE-6DE6-3482-E814DEAB324B}"/>
              </a:ext>
            </a:extLst>
          </p:cNvPr>
          <p:cNvSpPr/>
          <p:nvPr/>
        </p:nvSpPr>
        <p:spPr>
          <a:xfrm>
            <a:off x="-7620" y="-7620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06A37DEB-E0DA-34CE-8111-964E072B63B7}"/>
              </a:ext>
            </a:extLst>
          </p:cNvPr>
          <p:cNvSpPr txBox="1"/>
          <p:nvPr/>
        </p:nvSpPr>
        <p:spPr>
          <a:xfrm>
            <a:off x="319349" y="181038"/>
            <a:ext cx="750187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Executive Summary 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1A65B-B34A-0946-411B-997EC561A976}"/>
              </a:ext>
            </a:extLst>
          </p:cNvPr>
          <p:cNvSpPr txBox="1"/>
          <p:nvPr/>
        </p:nvSpPr>
        <p:spPr>
          <a:xfrm>
            <a:off x="319348" y="977588"/>
            <a:ext cx="86204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239C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Verifying whether an agent's final purchase still matches Card Member's confirmed intent before payment treatment.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C545D-BC82-43E2-1BA4-A582FF13AA6D}"/>
              </a:ext>
            </a:extLst>
          </p:cNvPr>
          <p:cNvSpPr txBox="1"/>
          <p:nvPr/>
        </p:nvSpPr>
        <p:spPr>
          <a:xfrm>
            <a:off x="319348" y="1373995"/>
            <a:ext cx="959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C264F-2691-7F3E-7C77-25452585D3F0}"/>
              </a:ext>
            </a:extLst>
          </p:cNvPr>
          <p:cNvSpPr txBox="1"/>
          <p:nvPr/>
        </p:nvSpPr>
        <p:spPr>
          <a:xfrm>
            <a:off x="319347" y="1650994"/>
            <a:ext cx="46343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An authenticated and authorized agent can still produce an unintended outcome; for example, a non-refundable fare, an unwanted add-on, or cumulative spending above the mandate.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1F058-7C09-12BF-5129-3054763C505F}"/>
              </a:ext>
            </a:extLst>
          </p:cNvPr>
          <p:cNvSpPr txBox="1"/>
          <p:nvPr/>
        </p:nvSpPr>
        <p:spPr>
          <a:xfrm>
            <a:off x="319348" y="2251158"/>
            <a:ext cx="959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41BAF-CF49-5529-DA3C-6FA0F2A841CA}"/>
              </a:ext>
            </a:extLst>
          </p:cNvPr>
          <p:cNvSpPr txBox="1"/>
          <p:nvPr/>
        </p:nvSpPr>
        <p:spPr>
          <a:xfrm>
            <a:off x="319347" y="2528157"/>
            <a:ext cx="46343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Immediately before payment treatment, Mandate Assurance compares the confirmed, versioned mandate and prior fulfillment state with recognized merchant/cart evidence.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C891F-C38D-FE0B-C861-BB43B070C0D6}"/>
              </a:ext>
            </a:extLst>
          </p:cNvPr>
          <p:cNvSpPr txBox="1"/>
          <p:nvPr/>
        </p:nvSpPr>
        <p:spPr>
          <a:xfrm>
            <a:off x="319347" y="3128321"/>
            <a:ext cx="1118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Decision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CDDE3-D414-522E-C473-D1C18389A121}"/>
              </a:ext>
            </a:extLst>
          </p:cNvPr>
          <p:cNvSpPr txBox="1"/>
          <p:nvPr/>
        </p:nvSpPr>
        <p:spPr>
          <a:xfrm>
            <a:off x="319347" y="3405320"/>
            <a:ext cx="46343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Rules and semantic signals feed a versioned policy that returns </a:t>
            </a: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`APPROVE`, `STEP_UP`, or `HOLD`, </a:t>
            </a:r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together with evidence-backed reasons and an auditable decision record.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9BA18F-8E3B-FB77-0723-CC3642A49982}"/>
              </a:ext>
            </a:extLst>
          </p:cNvPr>
          <p:cNvSpPr txBox="1"/>
          <p:nvPr/>
        </p:nvSpPr>
        <p:spPr>
          <a:xfrm>
            <a:off x="319347" y="4005484"/>
            <a:ext cx="1864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Value and Boundary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B302D-E968-5F4D-E0F7-CC1C1FC78909}"/>
              </a:ext>
            </a:extLst>
          </p:cNvPr>
          <p:cNvSpPr txBox="1"/>
          <p:nvPr/>
        </p:nvSpPr>
        <p:spPr>
          <a:xfrm>
            <a:off x="319347" y="4282483"/>
            <a:ext cx="46343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This protects Card Members while keeping valid purchases low-friction. A working end-to-end prototype is implemented; learned models remain promotion-gated and no production-readiness claim is made.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FB4C31-DCDB-D46F-EBFD-8C039D236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62" y="1796554"/>
            <a:ext cx="4190755" cy="27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5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75A9B99-8E60-D0EC-1EE8-5A53761CC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1" t="17724" b="14960"/>
          <a:stretch>
            <a:fillRect/>
          </a:stretch>
        </p:blipFill>
        <p:spPr>
          <a:xfrm>
            <a:off x="4697520" y="3456214"/>
            <a:ext cx="4252650" cy="1238991"/>
          </a:xfrm>
          <a:prstGeom prst="rect">
            <a:avLst/>
          </a:prstGeom>
        </p:spPr>
      </p:pic>
      <p:sp>
        <p:nvSpPr>
          <p:cNvPr id="62" name="Google Shape;62;p14"/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9350" y="148200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Background: Agentic Commerce Experience (ACE) 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AFE77-2BF5-FDA1-A219-4C09ED455C53}"/>
              </a:ext>
            </a:extLst>
          </p:cNvPr>
          <p:cNvSpPr txBox="1"/>
          <p:nvPr/>
        </p:nvSpPr>
        <p:spPr>
          <a:xfrm>
            <a:off x="314895" y="1067790"/>
            <a:ext cx="37466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ACE: Trusted foundation for Agentic Commerce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95B03-4F96-52A0-AA53-D3A3BEF281C1}"/>
              </a:ext>
            </a:extLst>
          </p:cNvPr>
          <p:cNvSpPr txBox="1"/>
          <p:nvPr/>
        </p:nvSpPr>
        <p:spPr>
          <a:xfrm>
            <a:off x="314895" y="1344789"/>
            <a:ext cx="4252650" cy="1149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</a:pPr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ACE is a developer kit of integrated services designed to bring American Express Cards and Membership value into AI-powered commerce with trust, control, interoperability, and visibility across the commerce lifecycle.</a:t>
            </a:r>
          </a:p>
          <a:p>
            <a:b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5ACC2-D0B3-9177-32D5-0355B4819C85}"/>
              </a:ext>
            </a:extLst>
          </p:cNvPr>
          <p:cNvSpPr txBox="1"/>
          <p:nvPr/>
        </p:nvSpPr>
        <p:spPr>
          <a:xfrm>
            <a:off x="4697520" y="1067790"/>
            <a:ext cx="3647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Outcome-Integrity gap</a:t>
            </a:r>
            <a:endParaRPr lang="en-US" sz="120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AC154-835F-13C4-2800-27E088BE3133}"/>
              </a:ext>
            </a:extLst>
          </p:cNvPr>
          <p:cNvSpPr txBox="1"/>
          <p:nvPr/>
        </p:nvSpPr>
        <p:spPr>
          <a:xfrm>
            <a:off x="4697520" y="1346767"/>
            <a:ext cx="4252650" cy="202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</a:pPr>
            <a:r>
              <a:rPr lang="en-US" sz="1100" dirty="0">
                <a:solidFill>
                  <a:srgbClr val="00239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 registered agent may be genuine, the Card Member's intent may be captured, and the payment credential may be valid; yet the final proposed purchase can still differ materially from what was approved.</a:t>
            </a:r>
          </a:p>
          <a:p>
            <a:pPr marL="171450" indent="-171450">
              <a:lnSpc>
                <a:spcPts val="1440"/>
              </a:lnSpc>
              <a:buFont typeface="Wingdings" pitchFamily="2" charset="2"/>
              <a:buChar char="Ø"/>
            </a:pP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 drift: </a:t>
            </a:r>
            <a:r>
              <a:rPr lang="en-US" sz="1050" dirty="0">
                <a:latin typeface="Segoe UI" panose="020B0502040204020203" pitchFamily="34" charset="0"/>
                <a:cs typeface="Segoe UI" panose="020B0502040204020203" pitchFamily="34" charset="0"/>
              </a:rPr>
              <a:t>planning error, hallucination, substitution, or indirect prompt injection changes the product or terms.</a:t>
            </a: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Evidence uncertainty: </a:t>
            </a:r>
            <a:r>
              <a:rPr lang="en-US" sz="1050" dirty="0">
                <a:latin typeface="Segoe UI" panose="020B0502040204020203" pitchFamily="34" charset="0"/>
                <a:cs typeface="Segoe UI" panose="020B0502040204020203" pitchFamily="34" charset="0"/>
              </a:rPr>
              <a:t>merchant content is missing, ambiguous, or inconsistent with the requirement.</a:t>
            </a: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Stateful breach: </a:t>
            </a:r>
            <a:r>
              <a:rPr lang="en-US" sz="1050" dirty="0">
                <a:latin typeface="Segoe UI" panose="020B0502040204020203" pitchFamily="34" charset="0"/>
                <a:cs typeface="Segoe UI" panose="020B0502040204020203" pitchFamily="34" charset="0"/>
              </a:rPr>
              <a:t>several individually plausible purchases exceed a cumulative budget or fulfillment limit.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44EF702-7BD5-601E-C4DC-1A5E7E472A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76" t="18234" r="19549"/>
          <a:stretch>
            <a:fillRect/>
          </a:stretch>
        </p:blipFill>
        <p:spPr>
          <a:xfrm>
            <a:off x="314895" y="2261760"/>
            <a:ext cx="4175325" cy="257030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6608A4D-0494-BBBD-7A26-BB1A24AF6D8B}"/>
              </a:ext>
            </a:extLst>
          </p:cNvPr>
          <p:cNvSpPr txBox="1"/>
          <p:nvPr/>
        </p:nvSpPr>
        <p:spPr>
          <a:xfrm>
            <a:off x="2979868" y="503457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CE9284-CB36-DBE1-1428-4EA2B7E174CB}"/>
              </a:ext>
            </a:extLst>
          </p:cNvPr>
          <p:cNvSpPr txBox="1"/>
          <p:nvPr/>
        </p:nvSpPr>
        <p:spPr>
          <a:xfrm>
            <a:off x="314895" y="4801748"/>
            <a:ext cx="6781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Source:</a:t>
            </a:r>
            <a:r>
              <a:rPr lang="en-US" sz="800" dirty="0"/>
              <a:t> American Express, </a:t>
            </a:r>
            <a:r>
              <a:rPr lang="en-US" sz="800" i="1" dirty="0"/>
              <a:t>Agentic Commerce Experiences</a:t>
            </a:r>
            <a:r>
              <a:rPr lang="en-US" sz="800" dirty="0"/>
              <a:t>; American Express Newsroom, </a:t>
            </a:r>
            <a:r>
              <a:rPr lang="en-US" sz="800" i="1" dirty="0"/>
              <a:t>ACE Developer Kit Announcement</a:t>
            </a:r>
            <a:r>
              <a:rPr lang="en-US" sz="800" dirty="0"/>
              <a:t>, Apr. 14, 2026.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47C11081-C197-E9C5-DB7E-7EE02BFE9B01}"/>
              </a:ext>
            </a:extLst>
          </p:cNvPr>
          <p:cNvSpPr/>
          <p:nvPr/>
        </p:nvSpPr>
        <p:spPr>
          <a:xfrm>
            <a:off x="7529805" y="3544712"/>
            <a:ext cx="1275974" cy="1027288"/>
          </a:xfrm>
          <a:prstGeom prst="roundRect">
            <a:avLst>
              <a:gd name="adj" fmla="val 567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D79798-39BE-2E0C-ECBF-41AA1A166441}"/>
              </a:ext>
            </a:extLst>
          </p:cNvPr>
          <p:cNvCxnSpPr>
            <a:cxnSpLocks/>
          </p:cNvCxnSpPr>
          <p:nvPr/>
        </p:nvCxnSpPr>
        <p:spPr>
          <a:xfrm>
            <a:off x="7737546" y="4235763"/>
            <a:ext cx="4961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423B38F-4219-E3BE-8D7A-396182A1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5AFF88D-B915-6E32-AAC0-21130D037CEA}"/>
              </a:ext>
            </a:extLst>
          </p:cNvPr>
          <p:cNvSpPr/>
          <p:nvPr/>
        </p:nvSpPr>
        <p:spPr>
          <a:xfrm>
            <a:off x="-7620" y="-7620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12DE93B3-E047-A33D-9E09-AE4FD436736B}"/>
              </a:ext>
            </a:extLst>
          </p:cNvPr>
          <p:cNvSpPr txBox="1"/>
          <p:nvPr/>
        </p:nvSpPr>
        <p:spPr>
          <a:xfrm>
            <a:off x="319348" y="181038"/>
            <a:ext cx="753317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Proposal: One Mandate, Four Treatment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C18CB-BE4A-5D3A-EE0B-5BB207479FE4}"/>
              </a:ext>
            </a:extLst>
          </p:cNvPr>
          <p:cNvSpPr txBox="1"/>
          <p:nvPr/>
        </p:nvSpPr>
        <p:spPr>
          <a:xfrm>
            <a:off x="343168" y="1065676"/>
            <a:ext cx="8169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same mandate does not always require the same response. The system identifies what changed and applies the least disruptive safe treatment -&gt; </a:t>
            </a:r>
            <a:r>
              <a:rPr lang="en-US" sz="12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approve</a:t>
            </a:r>
            <a:r>
              <a:rPr lang="en-US" sz="12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ask the Card Member</a:t>
            </a:r>
            <a:r>
              <a:rPr lang="en-US" sz="12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or </a:t>
            </a:r>
            <a:r>
              <a:rPr lang="en-US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 the action.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97823C-82AC-BCB4-BCDC-38D585EDA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00" t="23467" r="24354" b="22667"/>
          <a:stretch>
            <a:fillRect/>
          </a:stretch>
        </p:blipFill>
        <p:spPr>
          <a:xfrm>
            <a:off x="405715" y="1640299"/>
            <a:ext cx="2260566" cy="1754719"/>
          </a:xfrm>
          <a:prstGeom prst="rect">
            <a:avLst/>
          </a:prstGeom>
        </p:spPr>
      </p:pic>
      <p:sp>
        <p:nvSpPr>
          <p:cNvPr id="22" name="Right Arrow 21">
            <a:extLst>
              <a:ext uri="{FF2B5EF4-FFF2-40B4-BE49-F238E27FC236}">
                <a16:creationId xmlns:a16="http://schemas.microsoft.com/office/drawing/2014/main" id="{4A91B561-CCE6-5347-A4E0-0B005384957B}"/>
              </a:ext>
            </a:extLst>
          </p:cNvPr>
          <p:cNvSpPr/>
          <p:nvPr/>
        </p:nvSpPr>
        <p:spPr>
          <a:xfrm>
            <a:off x="2775201" y="2476421"/>
            <a:ext cx="566058" cy="326571"/>
          </a:xfrm>
          <a:prstGeom prst="rightArrow">
            <a:avLst>
              <a:gd name="adj1" fmla="val 30000"/>
              <a:gd name="adj2" fmla="val 50000"/>
            </a:avLst>
          </a:prstGeom>
          <a:solidFill>
            <a:srgbClr val="0023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D28B52-0894-1AD2-F49C-9D7852D1222C}"/>
              </a:ext>
            </a:extLst>
          </p:cNvPr>
          <p:cNvGrpSpPr/>
          <p:nvPr/>
        </p:nvGrpSpPr>
        <p:grpSpPr>
          <a:xfrm>
            <a:off x="3470500" y="1689622"/>
            <a:ext cx="5187833" cy="3052967"/>
            <a:chOff x="3562851" y="1008907"/>
            <a:chExt cx="5187833" cy="305296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A7FC58A-BA52-FA49-0062-D3C4F3B1B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27" t="7870" r="3377" b="9511"/>
            <a:stretch>
              <a:fillRect/>
            </a:stretch>
          </p:blipFill>
          <p:spPr>
            <a:xfrm>
              <a:off x="3562851" y="1008907"/>
              <a:ext cx="5187833" cy="3052967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6BE3516-BD99-BD9C-B5A2-94ED3CD415B8}"/>
                </a:ext>
              </a:extLst>
            </p:cNvPr>
            <p:cNvCxnSpPr>
              <a:cxnSpLocks/>
            </p:cNvCxnSpPr>
            <p:nvPr/>
          </p:nvCxnSpPr>
          <p:spPr>
            <a:xfrm>
              <a:off x="3690480" y="3710829"/>
              <a:ext cx="82985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33E116-C600-39A6-77DB-BD1F12F7BD9C}"/>
                </a:ext>
              </a:extLst>
            </p:cNvPr>
            <p:cNvCxnSpPr>
              <a:cxnSpLocks/>
            </p:cNvCxnSpPr>
            <p:nvPr/>
          </p:nvCxnSpPr>
          <p:spPr>
            <a:xfrm>
              <a:off x="4235504" y="3572898"/>
              <a:ext cx="39848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692E4FB-0A90-4BD6-8EA0-634976B7FB39}"/>
                </a:ext>
              </a:extLst>
            </p:cNvPr>
            <p:cNvCxnSpPr>
              <a:cxnSpLocks/>
            </p:cNvCxnSpPr>
            <p:nvPr/>
          </p:nvCxnSpPr>
          <p:spPr>
            <a:xfrm>
              <a:off x="5047566" y="2375332"/>
              <a:ext cx="1251634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C9FA662-7197-8E36-FCD4-E713422C627D}"/>
                </a:ext>
              </a:extLst>
            </p:cNvPr>
            <p:cNvCxnSpPr>
              <a:cxnSpLocks/>
            </p:cNvCxnSpPr>
            <p:nvPr/>
          </p:nvCxnSpPr>
          <p:spPr>
            <a:xfrm>
              <a:off x="5979796" y="1906522"/>
              <a:ext cx="114443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05AAE5A-707B-B05E-1600-F370069D0853}"/>
                </a:ext>
              </a:extLst>
            </p:cNvPr>
            <p:cNvCxnSpPr>
              <a:cxnSpLocks/>
            </p:cNvCxnSpPr>
            <p:nvPr/>
          </p:nvCxnSpPr>
          <p:spPr>
            <a:xfrm>
              <a:off x="5047566" y="2051664"/>
              <a:ext cx="37352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BB8D14C-A0CC-6E97-C97A-8285790D4539}"/>
              </a:ext>
            </a:extLst>
          </p:cNvPr>
          <p:cNvSpPr txBox="1"/>
          <p:nvPr/>
        </p:nvSpPr>
        <p:spPr>
          <a:xfrm>
            <a:off x="485667" y="3477223"/>
            <a:ext cx="2853267" cy="1217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50000"/>
              </a:lnSpc>
            </a:pPr>
            <a:r>
              <a:rPr lang="en-US" sz="1000" dirty="0">
                <a:solidFill>
                  <a:srgbClr val="FF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Protection</a:t>
            </a:r>
            <a:r>
              <a:rPr lang="en-US" sz="1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</a:t>
            </a:r>
            <a:r>
              <a:rPr lang="en-US" sz="1000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locks critical mandate breaches.</a:t>
            </a:r>
          </a:p>
          <a:p>
            <a:pPr marR="0">
              <a:lnSpc>
                <a:spcPct val="150000"/>
              </a:lnSpc>
            </a:pPr>
            <a:r>
              <a:rPr lang="en-US" sz="1000" dirty="0">
                <a:solidFill>
                  <a:srgbClr val="00B05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Growth</a:t>
            </a:r>
            <a:r>
              <a:rPr lang="en-US" sz="10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en-US" sz="1000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ets compliant purchases proceed with low friction.</a:t>
            </a:r>
          </a:p>
          <a:p>
            <a:pPr marR="0">
              <a:lnSpc>
                <a:spcPct val="150000"/>
              </a:lnSpc>
            </a:pPr>
            <a:r>
              <a:rPr lang="en-US" sz="1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en-US" sz="1000" dirty="0">
                <a:solidFill>
                  <a:srgbClr val="FFC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roductivity</a:t>
            </a:r>
            <a:r>
              <a:rPr lang="en-US" sz="1000" dirty="0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1000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utomates routine decisions and simplifies exception review.</a:t>
            </a:r>
          </a:p>
        </p:txBody>
      </p:sp>
    </p:spTree>
    <p:extLst>
      <p:ext uri="{BB962C8B-B14F-4D97-AF65-F5344CB8AC3E}">
        <p14:creationId xmlns:p14="http://schemas.microsoft.com/office/powerpoint/2010/main" val="39455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2B35C21-B4A8-9808-AA77-3278008F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755A735-A0C0-18BF-317D-4CE8B14532F2}"/>
              </a:ext>
            </a:extLst>
          </p:cNvPr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E16A5B6-CCAB-8F7C-C84D-45F41D8CEB2F}"/>
              </a:ext>
            </a:extLst>
          </p:cNvPr>
          <p:cNvSpPr txBox="1"/>
          <p:nvPr/>
        </p:nvSpPr>
        <p:spPr>
          <a:xfrm>
            <a:off x="319350" y="148200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Solution: Verifying Outcome Prior to Payment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7F210-9522-DF0A-6A94-1650E96DF67E}"/>
              </a:ext>
            </a:extLst>
          </p:cNvPr>
          <p:cNvSpPr txBox="1"/>
          <p:nvPr/>
        </p:nvSpPr>
        <p:spPr>
          <a:xfrm>
            <a:off x="319350" y="1067535"/>
            <a:ext cx="8168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Agent proposes purchase → </a:t>
            </a:r>
            <a:r>
              <a:rPr lang="en-US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Mandate Assurance validates the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outcome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→ Payment treatment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CB9AF1-B6AF-3797-B85B-E66AA4CE692E}"/>
              </a:ext>
            </a:extLst>
          </p:cNvPr>
          <p:cNvSpPr txBox="1"/>
          <p:nvPr/>
        </p:nvSpPr>
        <p:spPr>
          <a:xfrm>
            <a:off x="2979868" y="503457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075A0-E691-40F5-235F-ECBA754E4755}"/>
              </a:ext>
            </a:extLst>
          </p:cNvPr>
          <p:cNvSpPr txBox="1"/>
          <p:nvPr/>
        </p:nvSpPr>
        <p:spPr>
          <a:xfrm>
            <a:off x="319350" y="4245962"/>
            <a:ext cx="7325382" cy="693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Trust boundary: </a:t>
            </a: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agent proposes the action, but it cannot alter the confirmed mandate, recognized cart evidence, or prior fulfillment state used to validate it.</a:t>
            </a: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Stateful and auditable:</a:t>
            </a: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Each result records the treatment, reasons, and evidence, then updates cumulative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BEF426-4CD4-A930-A66A-B85B6D9B40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36" b="12050"/>
          <a:stretch>
            <a:fillRect/>
          </a:stretch>
        </p:blipFill>
        <p:spPr>
          <a:xfrm>
            <a:off x="909309" y="1493522"/>
            <a:ext cx="7325382" cy="258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0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8511145-F32B-55C5-C2A5-F4EFCF45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07E2D79-4EF7-6600-2963-6BF36232954B}"/>
              </a:ext>
            </a:extLst>
          </p:cNvPr>
          <p:cNvSpPr/>
          <p:nvPr/>
        </p:nvSpPr>
        <p:spPr>
          <a:xfrm>
            <a:off x="-7620" y="-7620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02AC99F-2A95-183B-1323-B1B2665EEF0E}"/>
              </a:ext>
            </a:extLst>
          </p:cNvPr>
          <p:cNvSpPr txBox="1"/>
          <p:nvPr/>
        </p:nvSpPr>
        <p:spPr>
          <a:xfrm>
            <a:off x="124876" y="163499"/>
            <a:ext cx="816963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Solution: 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Evidence Layers </a:t>
            </a:r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Assess Every Proposed Outcome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53022-06DF-C434-2936-0F0A426787D1}"/>
              </a:ext>
            </a:extLst>
          </p:cNvPr>
          <p:cNvSpPr txBox="1"/>
          <p:nvPr/>
        </p:nvSpPr>
        <p:spPr>
          <a:xfrm>
            <a:off x="213034" y="912077"/>
            <a:ext cx="184119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system separates objective facts, semantic meaning, and combined risk so that no single model must understand or control the entire decision.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F3B1813-1941-8910-BEB5-ADF28E04C0C9}"/>
              </a:ext>
            </a:extLst>
          </p:cNvPr>
          <p:cNvGrpSpPr/>
          <p:nvPr/>
        </p:nvGrpSpPr>
        <p:grpSpPr>
          <a:xfrm>
            <a:off x="1885999" y="923664"/>
            <a:ext cx="4838892" cy="4219836"/>
            <a:chOff x="1998071" y="1228876"/>
            <a:chExt cx="4607766" cy="38838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31C1F4E-70B6-1576-FCAB-131B599A2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8071" y="2040929"/>
              <a:ext cx="4607766" cy="3071844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56BDED-0110-0456-D92F-A735B6251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4342" b="45633"/>
            <a:stretch>
              <a:fillRect/>
            </a:stretch>
          </p:blipFill>
          <p:spPr>
            <a:xfrm>
              <a:off x="2032115" y="1228876"/>
              <a:ext cx="4248450" cy="955969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E082E81-8736-BD3D-1F36-DC1C709A5571}"/>
              </a:ext>
            </a:extLst>
          </p:cNvPr>
          <p:cNvSpPr txBox="1"/>
          <p:nvPr/>
        </p:nvSpPr>
        <p:spPr>
          <a:xfrm>
            <a:off x="6520070" y="3805863"/>
            <a:ext cx="2550589" cy="115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Models assess; policy decides.</a:t>
            </a:r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50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Rule and semantic results remain independently visible to policy, so a learned score cannot hide a known breach or independently stop a purchase.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8F7AE-C055-B1BA-DB75-2F9837B20851}"/>
              </a:ext>
            </a:extLst>
          </p:cNvPr>
          <p:cNvSpPr txBox="1"/>
          <p:nvPr/>
        </p:nvSpPr>
        <p:spPr>
          <a:xfrm>
            <a:off x="204944" y="2448431"/>
            <a:ext cx="199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Natural Language Inference (NLI)</a:t>
            </a: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understands whether the proposed product’s meaning supports, contradicts, or fails to prove the Card Member’s requirements.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682148-04B9-C0B2-303A-2494454F523D}"/>
              </a:ext>
            </a:extLst>
          </p:cNvPr>
          <p:cNvSpPr txBox="1"/>
          <p:nvPr/>
        </p:nvSpPr>
        <p:spPr>
          <a:xfrm>
            <a:off x="6626476" y="1946305"/>
            <a:ext cx="2280212" cy="79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CatBoost Model </a:t>
            </a:r>
            <a:r>
              <a:rPr 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combines multiple transaction, rule, semantic, and historical signals to detect risky patterns that individual checks may miss.</a:t>
            </a:r>
            <a:endParaRPr lang="en-US" sz="900" dirty="0"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3AC496-303D-D3C5-0CA0-AD701CAF1D0E}"/>
              </a:ext>
            </a:extLst>
          </p:cNvPr>
          <p:cNvSpPr txBox="1"/>
          <p:nvPr/>
        </p:nvSpPr>
        <p:spPr>
          <a:xfrm>
            <a:off x="3037012" y="1616529"/>
            <a:ext cx="1115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600" dirty="0">
                <a:solidFill>
                  <a:srgbClr val="00239C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Validated and normalized before evaluation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ECE2E88-906F-7E4D-83EA-F12D8FFCCD14}"/>
              </a:ext>
            </a:extLst>
          </p:cNvPr>
          <p:cNvCxnSpPr>
            <a:cxnSpLocks/>
          </p:cNvCxnSpPr>
          <p:nvPr/>
        </p:nvCxnSpPr>
        <p:spPr>
          <a:xfrm flipV="1">
            <a:off x="1885999" y="2097973"/>
            <a:ext cx="1933442" cy="488420"/>
          </a:xfrm>
          <a:prstGeom prst="bentConnector3">
            <a:avLst>
              <a:gd name="adj1" fmla="val 7343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71BDBD2-71B5-6128-4B83-DB975A3D5EBE}"/>
              </a:ext>
            </a:extLst>
          </p:cNvPr>
          <p:cNvCxnSpPr>
            <a:cxnSpLocks/>
          </p:cNvCxnSpPr>
          <p:nvPr/>
        </p:nvCxnSpPr>
        <p:spPr>
          <a:xfrm flipH="1">
            <a:off x="6293392" y="2075833"/>
            <a:ext cx="3654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5DAAF53-8007-6973-D298-F5F43D162A70}"/>
              </a:ext>
            </a:extLst>
          </p:cNvPr>
          <p:cNvSpPr/>
          <p:nvPr/>
        </p:nvSpPr>
        <p:spPr>
          <a:xfrm>
            <a:off x="2046135" y="1893528"/>
            <a:ext cx="4473935" cy="2191455"/>
          </a:xfrm>
          <a:prstGeom prst="rect">
            <a:avLst/>
          </a:prstGeom>
          <a:solidFill>
            <a:schemeClr val="accent1">
              <a:alpha val="0"/>
            </a:schemeClr>
          </a:solidFill>
          <a:ln w="2222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10748822-FCFB-6803-ABCF-2174BA6AD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155" y="766453"/>
            <a:ext cx="1061830" cy="106183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916B6F68-0AE0-C3F6-B2A4-9146809FDCEF}"/>
              </a:ext>
            </a:extLst>
          </p:cNvPr>
          <p:cNvSpPr txBox="1"/>
          <p:nvPr/>
        </p:nvSpPr>
        <p:spPr>
          <a:xfrm>
            <a:off x="6685221" y="931952"/>
            <a:ext cx="21627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trusted, normalized evidence inputs that every assessment layer uses to evaluate the proposed outcome</a:t>
            </a:r>
          </a:p>
        </p:txBody>
      </p:sp>
    </p:spTree>
    <p:extLst>
      <p:ext uri="{BB962C8B-B14F-4D97-AF65-F5344CB8AC3E}">
        <p14:creationId xmlns:p14="http://schemas.microsoft.com/office/powerpoint/2010/main" val="361438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418CBD8-7404-A062-FF7B-749AEFF21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78FAF9C-83C2-4F47-8E75-DBEC9D5EED1B}"/>
              </a:ext>
            </a:extLst>
          </p:cNvPr>
          <p:cNvSpPr/>
          <p:nvPr/>
        </p:nvSpPr>
        <p:spPr>
          <a:xfrm>
            <a:off x="-7620" y="-7620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EAD677B-B491-B9D1-A947-56CB9C28B414}"/>
              </a:ext>
            </a:extLst>
          </p:cNvPr>
          <p:cNvSpPr txBox="1"/>
          <p:nvPr/>
        </p:nvSpPr>
        <p:spPr>
          <a:xfrm>
            <a:off x="170758" y="148296"/>
            <a:ext cx="9160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Solution:</a:t>
            </a:r>
            <a:r>
              <a:rPr lang="en-US" sz="2400" b="1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Policy</a:t>
            </a:r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Converts Evidence into Proportionate Treatment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30D660-CD51-7C47-B194-CCA7C6FA58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4" t="10279" r="2353" b="4143"/>
          <a:stretch>
            <a:fillRect/>
          </a:stretch>
        </p:blipFill>
        <p:spPr>
          <a:xfrm>
            <a:off x="288685" y="1315590"/>
            <a:ext cx="5237759" cy="26282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FABEC0-5CF8-352B-DCEA-FEC2ADC95B88}"/>
              </a:ext>
            </a:extLst>
          </p:cNvPr>
          <p:cNvSpPr txBox="1"/>
          <p:nvPr/>
        </p:nvSpPr>
        <p:spPr>
          <a:xfrm>
            <a:off x="268519" y="918775"/>
            <a:ext cx="83089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Policy Contract </a:t>
            </a:r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applies </a:t>
            </a:r>
            <a:r>
              <a:rPr lang="en-US" sz="1050" u="sng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explicit precedence</a:t>
            </a:r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050" u="sng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authority limits</a:t>
            </a:r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preserving low friction where evidence is clean and Card Member control where uncertainty is remediable.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0614B1-81A4-21BB-033C-8E6FC0DD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5" t="5386" r="43878" b="5079"/>
          <a:stretch>
            <a:fillRect/>
          </a:stretch>
        </p:blipFill>
        <p:spPr>
          <a:xfrm>
            <a:off x="5949340" y="1319845"/>
            <a:ext cx="2399529" cy="2655444"/>
          </a:xfrm>
          <a:prstGeom prst="rect">
            <a:avLst/>
          </a:prstGeom>
        </p:spPr>
      </p:pic>
      <p:sp>
        <p:nvSpPr>
          <p:cNvPr id="22" name="Left-Right Arrow 21">
            <a:extLst>
              <a:ext uri="{FF2B5EF4-FFF2-40B4-BE49-F238E27FC236}">
                <a16:creationId xmlns:a16="http://schemas.microsoft.com/office/drawing/2014/main" id="{38A89EBA-C6E9-6322-05CA-7990C8451FE8}"/>
              </a:ext>
            </a:extLst>
          </p:cNvPr>
          <p:cNvSpPr/>
          <p:nvPr/>
        </p:nvSpPr>
        <p:spPr>
          <a:xfrm>
            <a:off x="5526444" y="2571750"/>
            <a:ext cx="422896" cy="176313"/>
          </a:xfrm>
          <a:prstGeom prst="leftRightArrow">
            <a:avLst/>
          </a:prstGeom>
          <a:solidFill>
            <a:srgbClr val="00239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779DF93-EDCB-34E7-8269-6F24A43999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303" b="25488"/>
          <a:stretch>
            <a:fillRect/>
          </a:stretch>
        </p:blipFill>
        <p:spPr>
          <a:xfrm>
            <a:off x="1513609" y="4017285"/>
            <a:ext cx="6116782" cy="104876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9F867C-F269-82B7-19CC-843D8A67D54A}"/>
              </a:ext>
            </a:extLst>
          </p:cNvPr>
          <p:cNvCxnSpPr>
            <a:cxnSpLocks/>
          </p:cNvCxnSpPr>
          <p:nvPr/>
        </p:nvCxnSpPr>
        <p:spPr>
          <a:xfrm>
            <a:off x="6606470" y="3718554"/>
            <a:ext cx="154221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1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4F0DE2B-702F-88FF-3B78-7228C542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33C23739-7705-6CBE-1871-9756E6BA15F4}"/>
              </a:ext>
            </a:extLst>
          </p:cNvPr>
          <p:cNvSpPr txBox="1"/>
          <p:nvPr/>
        </p:nvSpPr>
        <p:spPr>
          <a:xfrm>
            <a:off x="330100" y="4800664"/>
            <a:ext cx="8851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Source: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Amazon Science — </a:t>
            </a:r>
            <a:r>
              <a:rPr lang="en-US" sz="800" i="1" dirty="0">
                <a:latin typeface="Segoe UI" panose="020B0502040204020203" pitchFamily="34" charset="0"/>
                <a:cs typeface="Segoe UI" panose="020B0502040204020203" pitchFamily="34" charset="0"/>
              </a:rPr>
              <a:t>Shopping Queries Dataset: A Large-Scale ESCI Benchmark for Improving Product Search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(Reddy et al., 2022) (https://</a:t>
            </a:r>
            <a:r>
              <a:rPr lang="en-US" sz="800" dirty="0" err="1">
                <a:latin typeface="Segoe UI" panose="020B0502040204020203" pitchFamily="34" charset="0"/>
                <a:cs typeface="Segoe UI" panose="020B0502040204020203" pitchFamily="34" charset="0"/>
              </a:rPr>
              <a:t>github.com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/amazon-science/</a:t>
            </a:r>
            <a:r>
              <a:rPr lang="en-US" sz="800" dirty="0" err="1">
                <a:latin typeface="Segoe UI" panose="020B0502040204020203" pitchFamily="34" charset="0"/>
                <a:cs typeface="Segoe UI" panose="020B0502040204020203" pitchFamily="34" charset="0"/>
              </a:rPr>
              <a:t>esci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-data)</a:t>
            </a:r>
          </a:p>
          <a:p>
            <a:endParaRPr lang="en-US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BCFB57A-2D2B-2308-D0D7-476603ED232E}"/>
              </a:ext>
            </a:extLst>
          </p:cNvPr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E741BA3-268D-0EB4-D300-1D272863D7C9}"/>
              </a:ext>
            </a:extLst>
          </p:cNvPr>
          <p:cNvSpPr txBox="1"/>
          <p:nvPr/>
        </p:nvSpPr>
        <p:spPr>
          <a:xfrm>
            <a:off x="220550" y="157027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 Training: Development Data Mix</a:t>
            </a:r>
            <a:endParaRPr sz="1300" b="1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4DBE975-D382-4709-7097-800E7844C2D1}"/>
              </a:ext>
            </a:extLst>
          </p:cNvPr>
          <p:cNvSpPr/>
          <p:nvPr/>
        </p:nvSpPr>
        <p:spPr>
          <a:xfrm>
            <a:off x="369670" y="2802801"/>
            <a:ext cx="1115068" cy="54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Evidence lineage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4D548BD-BBC6-120C-DF50-B8B7D03ABE34}"/>
              </a:ext>
            </a:extLst>
          </p:cNvPr>
          <p:cNvSpPr/>
          <p:nvPr/>
        </p:nvSpPr>
        <p:spPr>
          <a:xfrm>
            <a:off x="369671" y="3277904"/>
            <a:ext cx="1209813" cy="54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0239C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Label provenance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758B12F-8A7C-F301-4C13-37EEB00B14D7}"/>
              </a:ext>
            </a:extLst>
          </p:cNvPr>
          <p:cNvSpPr/>
          <p:nvPr/>
        </p:nvSpPr>
        <p:spPr>
          <a:xfrm>
            <a:off x="1608637" y="2885794"/>
            <a:ext cx="3265117" cy="384065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C9C59CE-B964-8C96-7C78-B6B25931484D}"/>
              </a:ext>
            </a:extLst>
          </p:cNvPr>
          <p:cNvSpPr/>
          <p:nvPr/>
        </p:nvSpPr>
        <p:spPr>
          <a:xfrm>
            <a:off x="1608637" y="2885794"/>
            <a:ext cx="3265117" cy="38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real_public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3,872 rows · 55.31%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9B6488B-6F15-B5B8-5E32-EC74E5150A62}"/>
              </a:ext>
            </a:extLst>
          </p:cNvPr>
          <p:cNvSpPr/>
          <p:nvPr/>
        </p:nvSpPr>
        <p:spPr>
          <a:xfrm>
            <a:off x="4873753" y="2885794"/>
            <a:ext cx="2638186" cy="384065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57A94F0-9E53-8D9D-6C3A-97CDBCDCE681}"/>
              </a:ext>
            </a:extLst>
          </p:cNvPr>
          <p:cNvSpPr/>
          <p:nvPr/>
        </p:nvSpPr>
        <p:spPr>
          <a:xfrm>
            <a:off x="4873753" y="2885794"/>
            <a:ext cx="2638186" cy="38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hybrid_grounded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3,128 rows · 44.69%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7D6D5B3-FA03-5996-CC75-FDACC590B5E5}"/>
              </a:ext>
            </a:extLst>
          </p:cNvPr>
          <p:cNvSpPr/>
          <p:nvPr/>
        </p:nvSpPr>
        <p:spPr>
          <a:xfrm>
            <a:off x="1608637" y="3359669"/>
            <a:ext cx="3252129" cy="384065"/>
          </a:xfrm>
          <a:prstGeom prst="rect">
            <a:avLst/>
          </a:prstGeom>
          <a:solidFill>
            <a:srgbClr val="9AA5B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5A4AA20-DD24-DC9D-0180-5B0ADAE26A47}"/>
              </a:ext>
            </a:extLst>
          </p:cNvPr>
          <p:cNvSpPr/>
          <p:nvPr/>
        </p:nvSpPr>
        <p:spPr>
          <a:xfrm>
            <a:off x="1608637" y="3359669"/>
            <a:ext cx="3252129" cy="38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39C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Weak policy labels</a:t>
            </a:r>
            <a:endParaRPr lang="en-US" sz="90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00239C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3,856 · 55.09%</a:t>
            </a:r>
            <a:endParaRPr lang="en-US" sz="90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E505CDD-F56F-18E9-E7F5-2F97C8FED8EB}"/>
              </a:ext>
            </a:extLst>
          </p:cNvPr>
          <p:cNvSpPr/>
          <p:nvPr/>
        </p:nvSpPr>
        <p:spPr>
          <a:xfrm>
            <a:off x="4860766" y="3359669"/>
            <a:ext cx="2583285" cy="384065"/>
          </a:xfrm>
          <a:prstGeom prst="rect">
            <a:avLst/>
          </a:prstGeom>
          <a:solidFill>
            <a:srgbClr val="2E6F9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90ED12A-8821-6EEC-C590-E86E24F78BFF}"/>
              </a:ext>
            </a:extLst>
          </p:cNvPr>
          <p:cNvSpPr/>
          <p:nvPr/>
        </p:nvSpPr>
        <p:spPr>
          <a:xfrm>
            <a:off x="4860766" y="3359669"/>
            <a:ext cx="2583285" cy="3840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Deterministic labels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3,063 · 43.76%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945939DB-F22E-4D79-3F61-FE4A976CF449}"/>
              </a:ext>
            </a:extLst>
          </p:cNvPr>
          <p:cNvSpPr/>
          <p:nvPr/>
        </p:nvSpPr>
        <p:spPr>
          <a:xfrm>
            <a:off x="7444051" y="3359669"/>
            <a:ext cx="68478" cy="384065"/>
          </a:xfrm>
          <a:prstGeom prst="rect">
            <a:avLst/>
          </a:prstGeom>
          <a:solidFill>
            <a:srgbClr val="6B4C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F2A485D-FBB1-821D-623E-FFD02D9C0452}"/>
              </a:ext>
            </a:extLst>
          </p:cNvPr>
          <p:cNvSpPr/>
          <p:nvPr/>
        </p:nvSpPr>
        <p:spPr>
          <a:xfrm>
            <a:off x="7571413" y="3416313"/>
            <a:ext cx="1082964" cy="176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4C9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LLM-assisted labels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81 · 1.16%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09D828D-EC49-7B31-C53C-1733C4B331E4}"/>
              </a:ext>
            </a:extLst>
          </p:cNvPr>
          <p:cNvSpPr/>
          <p:nvPr/>
        </p:nvSpPr>
        <p:spPr>
          <a:xfrm>
            <a:off x="1608637" y="3822751"/>
            <a:ext cx="5903302" cy="0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EA7292E8-E27D-7C9E-15D5-9268300EFE43}"/>
              </a:ext>
            </a:extLst>
          </p:cNvPr>
          <p:cNvSpPr/>
          <p:nvPr/>
        </p:nvSpPr>
        <p:spPr>
          <a:xfrm>
            <a:off x="1615925" y="3825375"/>
            <a:ext cx="0" cy="27226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004AAEA-823F-2E1D-0D03-D91F24B0C712}"/>
              </a:ext>
            </a:extLst>
          </p:cNvPr>
          <p:cNvSpPr/>
          <p:nvPr/>
        </p:nvSpPr>
        <p:spPr>
          <a:xfrm>
            <a:off x="1379064" y="3885964"/>
            <a:ext cx="459146" cy="1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0%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2910121C-A87C-36AA-1C71-9CC1181E4675}"/>
              </a:ext>
            </a:extLst>
          </p:cNvPr>
          <p:cNvSpPr/>
          <p:nvPr/>
        </p:nvSpPr>
        <p:spPr>
          <a:xfrm>
            <a:off x="3084462" y="3842935"/>
            <a:ext cx="0" cy="27226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8BA12628-449A-035D-F9BA-4F25E66A1767}"/>
              </a:ext>
            </a:extLst>
          </p:cNvPr>
          <p:cNvSpPr/>
          <p:nvPr/>
        </p:nvSpPr>
        <p:spPr>
          <a:xfrm>
            <a:off x="2854889" y="3885964"/>
            <a:ext cx="459146" cy="1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25%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0B8437CB-45DB-A01E-78E8-D904DC34825E}"/>
              </a:ext>
            </a:extLst>
          </p:cNvPr>
          <p:cNvSpPr/>
          <p:nvPr/>
        </p:nvSpPr>
        <p:spPr>
          <a:xfrm>
            <a:off x="4560288" y="3842935"/>
            <a:ext cx="0" cy="27226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C410E891-F6E0-B993-ADA0-DE753F46D428}"/>
              </a:ext>
            </a:extLst>
          </p:cNvPr>
          <p:cNvSpPr/>
          <p:nvPr/>
        </p:nvSpPr>
        <p:spPr>
          <a:xfrm>
            <a:off x="4330715" y="3885964"/>
            <a:ext cx="459146" cy="1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50%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B6109FA3-FB59-4312-FEB1-3B74670E9060}"/>
              </a:ext>
            </a:extLst>
          </p:cNvPr>
          <p:cNvSpPr/>
          <p:nvPr/>
        </p:nvSpPr>
        <p:spPr>
          <a:xfrm>
            <a:off x="6036113" y="3842935"/>
            <a:ext cx="0" cy="27226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ABE5C5B4-F133-F2AE-133B-C859B965A949}"/>
              </a:ext>
            </a:extLst>
          </p:cNvPr>
          <p:cNvSpPr/>
          <p:nvPr/>
        </p:nvSpPr>
        <p:spPr>
          <a:xfrm>
            <a:off x="5806540" y="3885964"/>
            <a:ext cx="459146" cy="1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75%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95063BF4-DF59-0E77-D6E4-692FAB1545EC}"/>
              </a:ext>
            </a:extLst>
          </p:cNvPr>
          <p:cNvSpPr/>
          <p:nvPr/>
        </p:nvSpPr>
        <p:spPr>
          <a:xfrm>
            <a:off x="7511939" y="3842935"/>
            <a:ext cx="0" cy="27226"/>
          </a:xfrm>
          <a:prstGeom prst="line">
            <a:avLst/>
          </a:prstGeom>
          <a:noFill/>
          <a:ln w="1270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en-US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34ED8B16-A6C1-0411-F739-EB8CBA423B71}"/>
              </a:ext>
            </a:extLst>
          </p:cNvPr>
          <p:cNvSpPr/>
          <p:nvPr/>
        </p:nvSpPr>
        <p:spPr>
          <a:xfrm>
            <a:off x="7282366" y="3885964"/>
            <a:ext cx="459146" cy="197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100%</a:t>
            </a:r>
            <a:endParaRPr lang="en-US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06E0F6-D7B3-9940-1B2C-4236F3442D81}"/>
              </a:ext>
            </a:extLst>
          </p:cNvPr>
          <p:cNvSpPr txBox="1"/>
          <p:nvPr/>
        </p:nvSpPr>
        <p:spPr>
          <a:xfrm>
            <a:off x="788692" y="2750005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B123CF-149C-9E1D-7C64-DE4F1A6E0E04}"/>
              </a:ext>
            </a:extLst>
          </p:cNvPr>
          <p:cNvSpPr txBox="1"/>
          <p:nvPr/>
        </p:nvSpPr>
        <p:spPr>
          <a:xfrm>
            <a:off x="220550" y="947816"/>
            <a:ext cx="8427999" cy="1846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Dataset foundation: 7,000 examples, selected with group isolation from a 60,000-row corpus built on </a:t>
            </a: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public Amazon ESCI query–product relevance dataset.</a:t>
            </a:r>
          </a:p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050" dirty="0">
                <a:solidFill>
                  <a:srgbClr val="00239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Public product evidence grounds the examples. Synthetic mandates and state </a:t>
            </a:r>
            <a:r>
              <a:rPr lang="en-US" sz="1050" u="sng" dirty="0">
                <a:solidFill>
                  <a:srgbClr val="00239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supply operating context </a:t>
            </a:r>
            <a:r>
              <a:rPr lang="en-US" sz="1050" dirty="0">
                <a:solidFill>
                  <a:srgbClr val="00239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that public datasets do not contain. Every source and label type remains traceable.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Direct public evidence (real_public): </a:t>
            </a:r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Source-backed </a:t>
            </a:r>
            <a:r>
              <a:rPr lang="en-US" sz="1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ESCI</a:t>
            </a:r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(Amazon Shopping Queries Dataset) queries and product evidence. </a:t>
            </a:r>
            <a:r>
              <a:rPr lang="en-US" sz="10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synthetic mandate, budget, cart state, and prior fulfillment state are added to all rows.</a:t>
            </a:r>
            <a:endParaRPr lang="en-US" sz="1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  <a:buFont typeface="Wingdings" pitchFamily="2" charset="2"/>
              <a:buChar char="Ø"/>
            </a:pP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Grounded variants (hybrid_grounded): </a:t>
            </a:r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same public evidence with a </a:t>
            </a:r>
            <a:r>
              <a:rPr lang="en-US" sz="1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controlled, traceable composite or counterfactual change</a:t>
            </a:r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for example, a real-product add-on, near-budget case, cumulative overspend, or missing evidence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8BE209-347D-1D67-56E9-51D457FABC7C}"/>
              </a:ext>
            </a:extLst>
          </p:cNvPr>
          <p:cNvSpPr txBox="1"/>
          <p:nvPr/>
        </p:nvSpPr>
        <p:spPr>
          <a:xfrm>
            <a:off x="861333" y="4035749"/>
            <a:ext cx="7817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Policy-derived labels translate ESCI product relevance into expected mandate outcomes; deterministic labels come from executable rules; 81 labels came from LLM-assisted review and are not human ground truth.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F695FFF8-347F-9742-DED0-B16F05901C28}"/>
              </a:ext>
            </a:extLst>
          </p:cNvPr>
          <p:cNvCxnSpPr>
            <a:cxnSpLocks/>
            <a:endCxn id="39" idx="1"/>
          </p:cNvCxnSpPr>
          <p:nvPr/>
        </p:nvCxnSpPr>
        <p:spPr>
          <a:xfrm rot="16200000" flipH="1">
            <a:off x="487034" y="3830727"/>
            <a:ext cx="430814" cy="317784"/>
          </a:xfrm>
          <a:prstGeom prst="bentConnector2">
            <a:avLst/>
          </a:prstGeom>
          <a:ln>
            <a:solidFill>
              <a:srgbClr val="00239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BFFE0F9-0FFA-8289-DDE8-3A8C58C83249}"/>
              </a:ext>
            </a:extLst>
          </p:cNvPr>
          <p:cNvSpPr txBox="1"/>
          <p:nvPr/>
        </p:nvSpPr>
        <p:spPr>
          <a:xfrm>
            <a:off x="326244" y="4350487"/>
            <a:ext cx="821660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 it feeds the models: </a:t>
            </a:r>
            <a:r>
              <a:rPr lang="en-US" sz="10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separately trained NLI model converts mandate-versus-cart language into semantic features. CatBoost combines those features with rule, cart, budget, and prior-state signals.</a:t>
            </a:r>
          </a:p>
        </p:txBody>
      </p:sp>
    </p:spTree>
    <p:extLst>
      <p:ext uri="{BB962C8B-B14F-4D97-AF65-F5344CB8AC3E}">
        <p14:creationId xmlns:p14="http://schemas.microsoft.com/office/powerpoint/2010/main" val="22858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7FDEF5A-A708-03B7-228E-A7D0BB32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CE876346-FF01-D337-50B6-3D2AB94ABD3F}"/>
              </a:ext>
            </a:extLst>
          </p:cNvPr>
          <p:cNvSpPr txBox="1"/>
          <p:nvPr/>
        </p:nvSpPr>
        <p:spPr>
          <a:xfrm>
            <a:off x="260763" y="1995283"/>
            <a:ext cx="4111163" cy="61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000" b="1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Strong separation </a:t>
            </a:r>
            <a:r>
              <a:rPr lang="en-US" sz="10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between lower-risk and higher-risk examples. Across score cut-offs, intervention cases generally rank above lower-risk cases while </a:t>
            </a:r>
            <a:r>
              <a:rPr lang="en-US" sz="1000" b="1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false alarms remain controlled. </a:t>
            </a:r>
            <a:r>
              <a:rPr lang="en-US" sz="10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Closer to 1.0 is better.</a:t>
            </a:r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BBD2B66-5A98-03E0-CF47-05CDE2953103}"/>
              </a:ext>
            </a:extLst>
          </p:cNvPr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307ED332-14D8-F2FF-F80B-3CE4E6D2BA63}"/>
              </a:ext>
            </a:extLst>
          </p:cNvPr>
          <p:cNvSpPr txBox="1"/>
          <p:nvPr/>
        </p:nvSpPr>
        <p:spPr>
          <a:xfrm>
            <a:off x="220550" y="157027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Evaluation: Development Results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6B7E4A-F8C6-D4F6-B583-12322AF37ED0}"/>
              </a:ext>
            </a:extLst>
          </p:cNvPr>
          <p:cNvSpPr txBox="1"/>
          <p:nvPr/>
        </p:nvSpPr>
        <p:spPr>
          <a:xfrm>
            <a:off x="220550" y="947816"/>
            <a:ext cx="8427999" cy="438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Across 1,000 relationship-isolated development examples, the system ranks higher-risk outcomes effectively and maintains controlled escalation; semantic coverage remains the main improvement area before live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71C6D-EC74-6F0A-DA36-325546A19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119" y="1797800"/>
            <a:ext cx="4322714" cy="2485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0AC3B3-EA0B-902F-9696-03C74AD45393}"/>
              </a:ext>
            </a:extLst>
          </p:cNvPr>
          <p:cNvSpPr txBox="1"/>
          <p:nvPr/>
        </p:nvSpPr>
        <p:spPr>
          <a:xfrm>
            <a:off x="4516037" y="1538883"/>
            <a:ext cx="3189515" cy="258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Calibration and Card Member Impact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762962-0771-9E26-79BE-3BB51FCF9942}"/>
              </a:ext>
            </a:extLst>
          </p:cNvPr>
          <p:cNvGrpSpPr/>
          <p:nvPr/>
        </p:nvGrpSpPr>
        <p:grpSpPr>
          <a:xfrm>
            <a:off x="220549" y="1547265"/>
            <a:ext cx="2563176" cy="273473"/>
            <a:chOff x="220550" y="1504977"/>
            <a:chExt cx="2563176" cy="2734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CA3B6F-C563-BB67-508B-AADFA88DED93}"/>
                </a:ext>
              </a:extLst>
            </p:cNvPr>
            <p:cNvSpPr txBox="1"/>
            <p:nvPr/>
          </p:nvSpPr>
          <p:spPr>
            <a:xfrm>
              <a:off x="220550" y="1508844"/>
              <a:ext cx="1175467" cy="257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40"/>
                </a:lnSpc>
                <a:spcAft>
                  <a:spcPts val="1000"/>
                </a:spcAft>
                <a:buClr>
                  <a:srgbClr val="00239C"/>
                </a:buClr>
              </a:pPr>
              <a:r>
                <a:rPr lang="en-US" sz="1050" b="1" dirty="0">
                  <a:solidFill>
                    <a:srgbClr val="00239C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Risk Ranking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AB7565-53B3-0B24-28B0-873875B729C3}"/>
                </a:ext>
              </a:extLst>
            </p:cNvPr>
            <p:cNvSpPr txBox="1"/>
            <p:nvPr/>
          </p:nvSpPr>
          <p:spPr>
            <a:xfrm>
              <a:off x="1285285" y="1504977"/>
              <a:ext cx="1498441" cy="273473"/>
            </a:xfrm>
            <a:prstGeom prst="rect">
              <a:avLst/>
            </a:prstGeom>
            <a:noFill/>
            <a:ln>
              <a:solidFill>
                <a:srgbClr val="00239C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ts val="1440"/>
                </a:lnSpc>
                <a:spcAft>
                  <a:spcPts val="1000"/>
                </a:spcAft>
                <a:buClr>
                  <a:srgbClr val="00239C"/>
                </a:buClr>
              </a:pPr>
              <a:r>
                <a:rPr lang="en-US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PR-AUC: </a:t>
              </a:r>
              <a:r>
                <a:rPr lang="en-US" dirty="0">
                  <a:solidFill>
                    <a:srgbClr val="00239C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0.9667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43F0F4-B0D0-0FFC-1A0B-CB3EDE26AD2E}"/>
              </a:ext>
            </a:extLst>
          </p:cNvPr>
          <p:cNvSpPr txBox="1"/>
          <p:nvPr/>
        </p:nvSpPr>
        <p:spPr>
          <a:xfrm>
            <a:off x="220549" y="2786752"/>
            <a:ext cx="1720887" cy="258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Intervention Coverage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F7F129F-E4A7-6FB0-9D40-F0D03A43319A}"/>
              </a:ext>
            </a:extLst>
          </p:cNvPr>
          <p:cNvGrpSpPr/>
          <p:nvPr/>
        </p:nvGrpSpPr>
        <p:grpSpPr>
          <a:xfrm>
            <a:off x="220550" y="3530228"/>
            <a:ext cx="3865092" cy="260756"/>
            <a:chOff x="53285" y="2826059"/>
            <a:chExt cx="6362448" cy="260756"/>
          </a:xfrm>
        </p:grpSpPr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C20D2F72-42AD-5111-0B50-3549CFF9F6B4}"/>
                </a:ext>
              </a:extLst>
            </p:cNvPr>
            <p:cNvSpPr/>
            <p:nvPr/>
          </p:nvSpPr>
          <p:spPr>
            <a:xfrm>
              <a:off x="282858" y="2826059"/>
              <a:ext cx="5903302" cy="0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Shape 18">
              <a:extLst>
                <a:ext uri="{FF2B5EF4-FFF2-40B4-BE49-F238E27FC236}">
                  <a16:creationId xmlns:a16="http://schemas.microsoft.com/office/drawing/2014/main" id="{BBBC6510-8010-AF33-E061-1892E5673EA5}"/>
                </a:ext>
              </a:extLst>
            </p:cNvPr>
            <p:cNvSpPr/>
            <p:nvPr/>
          </p:nvSpPr>
          <p:spPr>
            <a:xfrm>
              <a:off x="290146" y="2828683"/>
              <a:ext cx="0" cy="27226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C8C5E1BB-BC52-EEF8-00C9-8EB4AF3BAFCA}"/>
                </a:ext>
              </a:extLst>
            </p:cNvPr>
            <p:cNvSpPr/>
            <p:nvPr/>
          </p:nvSpPr>
          <p:spPr>
            <a:xfrm>
              <a:off x="53285" y="2889272"/>
              <a:ext cx="459146" cy="197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5B647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0%</a:t>
              </a:r>
              <a:endParaRPr lang="en-US" sz="7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Shape 20">
              <a:extLst>
                <a:ext uri="{FF2B5EF4-FFF2-40B4-BE49-F238E27FC236}">
                  <a16:creationId xmlns:a16="http://schemas.microsoft.com/office/drawing/2014/main" id="{677B779D-5D86-2DDB-267F-CC7513D1C79E}"/>
                </a:ext>
              </a:extLst>
            </p:cNvPr>
            <p:cNvSpPr/>
            <p:nvPr/>
          </p:nvSpPr>
          <p:spPr>
            <a:xfrm>
              <a:off x="1758683" y="2846243"/>
              <a:ext cx="0" cy="27226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ECC24377-F8B4-E6B2-EC76-0E46EAA84147}"/>
                </a:ext>
              </a:extLst>
            </p:cNvPr>
            <p:cNvSpPr/>
            <p:nvPr/>
          </p:nvSpPr>
          <p:spPr>
            <a:xfrm>
              <a:off x="1529110" y="2889272"/>
              <a:ext cx="459146" cy="197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5B647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25%</a:t>
              </a:r>
              <a:endParaRPr lang="en-US" sz="7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1FC5AFCE-3800-8CA1-A670-9F8027119371}"/>
                </a:ext>
              </a:extLst>
            </p:cNvPr>
            <p:cNvSpPr/>
            <p:nvPr/>
          </p:nvSpPr>
          <p:spPr>
            <a:xfrm>
              <a:off x="3234509" y="2846243"/>
              <a:ext cx="0" cy="27226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Text 23">
              <a:extLst>
                <a:ext uri="{FF2B5EF4-FFF2-40B4-BE49-F238E27FC236}">
                  <a16:creationId xmlns:a16="http://schemas.microsoft.com/office/drawing/2014/main" id="{2DB347BC-1B37-2E98-2D24-B8C175B042BD}"/>
                </a:ext>
              </a:extLst>
            </p:cNvPr>
            <p:cNvSpPr/>
            <p:nvPr/>
          </p:nvSpPr>
          <p:spPr>
            <a:xfrm>
              <a:off x="3004936" y="2889272"/>
              <a:ext cx="459146" cy="197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5B647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50%</a:t>
              </a:r>
              <a:endParaRPr lang="en-US" sz="7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8BD3AF62-E0B4-8BA0-FBDC-8EEA76630DA2}"/>
                </a:ext>
              </a:extLst>
            </p:cNvPr>
            <p:cNvSpPr/>
            <p:nvPr/>
          </p:nvSpPr>
          <p:spPr>
            <a:xfrm>
              <a:off x="4710334" y="2846243"/>
              <a:ext cx="0" cy="27226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ext 25">
              <a:extLst>
                <a:ext uri="{FF2B5EF4-FFF2-40B4-BE49-F238E27FC236}">
                  <a16:creationId xmlns:a16="http://schemas.microsoft.com/office/drawing/2014/main" id="{A0DD0067-866C-5ADA-872F-68F334B3B90C}"/>
                </a:ext>
              </a:extLst>
            </p:cNvPr>
            <p:cNvSpPr/>
            <p:nvPr/>
          </p:nvSpPr>
          <p:spPr>
            <a:xfrm>
              <a:off x="4480761" y="2889272"/>
              <a:ext cx="459146" cy="197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5B647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75%</a:t>
              </a:r>
              <a:endParaRPr lang="en-US" sz="7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DE278CF7-4C36-F7F7-41B6-F9D85189585F}"/>
                </a:ext>
              </a:extLst>
            </p:cNvPr>
            <p:cNvSpPr/>
            <p:nvPr/>
          </p:nvSpPr>
          <p:spPr>
            <a:xfrm>
              <a:off x="6186160" y="2846243"/>
              <a:ext cx="0" cy="27226"/>
            </a:xfrm>
            <a:prstGeom prst="line">
              <a:avLst/>
            </a:prstGeom>
            <a:noFill/>
            <a:ln w="12700">
              <a:solidFill>
                <a:srgbClr val="D5D9DE"/>
              </a:solidFill>
              <a:prstDash val="solid"/>
            </a:ln>
          </p:spPr>
          <p:txBody>
            <a:bodyPr/>
            <a:lstStyle/>
            <a:p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A54A28DA-C03E-8771-E428-4C9851B58B77}"/>
                </a:ext>
              </a:extLst>
            </p:cNvPr>
            <p:cNvSpPr/>
            <p:nvPr/>
          </p:nvSpPr>
          <p:spPr>
            <a:xfrm>
              <a:off x="5956587" y="2889272"/>
              <a:ext cx="459146" cy="197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5B647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100%</a:t>
              </a:r>
              <a:endParaRPr lang="en-US" sz="7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67FDE6B-5D77-D6A4-7B2D-A3794A19BC3B}"/>
              </a:ext>
            </a:extLst>
          </p:cNvPr>
          <p:cNvGrpSpPr/>
          <p:nvPr/>
        </p:nvGrpSpPr>
        <p:grpSpPr>
          <a:xfrm>
            <a:off x="360012" y="3232031"/>
            <a:ext cx="3586165" cy="213929"/>
            <a:chOff x="434289" y="2767438"/>
            <a:chExt cx="3586165" cy="282383"/>
          </a:xfrm>
        </p:grpSpPr>
        <p:sp>
          <p:nvSpPr>
            <p:cNvPr id="65" name="Shape 9">
              <a:extLst>
                <a:ext uri="{FF2B5EF4-FFF2-40B4-BE49-F238E27FC236}">
                  <a16:creationId xmlns:a16="http://schemas.microsoft.com/office/drawing/2014/main" id="{9C067B35-D375-BB92-5D10-1EEA70A30511}"/>
                </a:ext>
              </a:extLst>
            </p:cNvPr>
            <p:cNvSpPr/>
            <p:nvPr/>
          </p:nvSpPr>
          <p:spPr>
            <a:xfrm flipH="1">
              <a:off x="3385930" y="2767438"/>
              <a:ext cx="634524" cy="2823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noFill/>
              <a:prstDash val="solid"/>
            </a:ln>
          </p:spPr>
          <p:txBody>
            <a:bodyPr/>
            <a:lstStyle/>
            <a:p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ED332517-6BFF-1E98-75E2-846FC532D21D}"/>
                </a:ext>
              </a:extLst>
            </p:cNvPr>
            <p:cNvSpPr/>
            <p:nvPr/>
          </p:nvSpPr>
          <p:spPr>
            <a:xfrm>
              <a:off x="434289" y="2767439"/>
              <a:ext cx="2951641" cy="282382"/>
            </a:xfrm>
            <a:prstGeom prst="rect">
              <a:avLst/>
            </a:prstGeom>
            <a:solidFill>
              <a:srgbClr val="1E2761"/>
            </a:solidFill>
            <a:ln w="19050">
              <a:noFill/>
              <a:prstDash val="solid"/>
            </a:ln>
          </p:spPr>
          <p:txBody>
            <a:bodyPr/>
            <a:lstStyle/>
            <a:p>
              <a:endParaRPr lang="en-US" sz="110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CA41DE6-C654-E5C2-E825-AD2027735EC0}"/>
              </a:ext>
            </a:extLst>
          </p:cNvPr>
          <p:cNvSpPr txBox="1"/>
          <p:nvPr/>
        </p:nvSpPr>
        <p:spPr>
          <a:xfrm>
            <a:off x="2176772" y="2940242"/>
            <a:ext cx="1908867" cy="257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Recall: </a:t>
            </a:r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79.93%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702539-B922-B208-0B29-B6B078E28C0D}"/>
              </a:ext>
            </a:extLst>
          </p:cNvPr>
          <p:cNvSpPr txBox="1"/>
          <p:nvPr/>
        </p:nvSpPr>
        <p:spPr>
          <a:xfrm>
            <a:off x="260763" y="4429977"/>
            <a:ext cx="8427999" cy="438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Overall interpretation: </a:t>
            </a:r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prioritises risky outcomes effectively and limits incorrect holds; improving &gt; consistent intervention coverage is the next model-development priority.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E43EE4-C74A-012D-6DE9-0B4A3FAB582D}"/>
              </a:ext>
            </a:extLst>
          </p:cNvPr>
          <p:cNvSpPr txBox="1"/>
          <p:nvPr/>
        </p:nvSpPr>
        <p:spPr>
          <a:xfrm>
            <a:off x="231916" y="3777384"/>
            <a:ext cx="4592320" cy="43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0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The system found ~</a:t>
            </a:r>
            <a:r>
              <a:rPr lang="en-US" sz="1000" b="1" dirty="0"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80 of every 100 development cases requiring intervention</a:t>
            </a:r>
            <a:r>
              <a:rPr lang="en-US" sz="10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r>
              <a:rPr lang="en-US" sz="1000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Higher coverage means </a:t>
            </a:r>
            <a:r>
              <a:rPr lang="en-US" sz="1000" b="1" dirty="0">
                <a:solidFill>
                  <a:schemeClr val="tx1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fewer missed protections.</a:t>
            </a:r>
          </a:p>
        </p:txBody>
      </p:sp>
    </p:spTree>
    <p:extLst>
      <p:ext uri="{BB962C8B-B14F-4D97-AF65-F5344CB8AC3E}">
        <p14:creationId xmlns:p14="http://schemas.microsoft.com/office/powerpoint/2010/main" val="1717549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26CF8F1-9EE0-5CC7-9128-39D63651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2066837A-34C9-6790-49CA-9419C5F8CC41}"/>
              </a:ext>
            </a:extLst>
          </p:cNvPr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02235D0C-C4F2-4CCC-252F-B1CDACBB076E}"/>
              </a:ext>
            </a:extLst>
          </p:cNvPr>
          <p:cNvSpPr txBox="1"/>
          <p:nvPr/>
        </p:nvSpPr>
        <p:spPr>
          <a:xfrm>
            <a:off x="319350" y="148200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Value and Impact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7D30CF-AAB5-CA4E-2B85-F3BC192ABA37}"/>
              </a:ext>
            </a:extLst>
          </p:cNvPr>
          <p:cNvSpPr txBox="1"/>
          <p:nvPr/>
        </p:nvSpPr>
        <p:spPr>
          <a:xfrm>
            <a:off x="2979868" y="503457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D2F4C-B80D-FD70-AD89-6911E64A6B2E}"/>
              </a:ext>
            </a:extLst>
          </p:cNvPr>
          <p:cNvSpPr txBox="1"/>
          <p:nvPr/>
        </p:nvSpPr>
        <p:spPr>
          <a:xfrm>
            <a:off x="356232" y="3858927"/>
            <a:ext cx="1895530" cy="258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American Express?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3E286-F76F-294D-E1CC-8793EFCDF65B}"/>
              </a:ext>
            </a:extLst>
          </p:cNvPr>
          <p:cNvSpPr txBox="1"/>
          <p:nvPr/>
        </p:nvSpPr>
        <p:spPr>
          <a:xfrm>
            <a:off x="358000" y="947398"/>
            <a:ext cx="8427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Verifying outcomes before payment can protect Card Member intent, make decisions easier to review, and create the confidence required for broader agentic-commerce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0DDDF-EE0E-11B4-AF98-2E419E241813}"/>
              </a:ext>
            </a:extLst>
          </p:cNvPr>
          <p:cNvSpPr txBox="1"/>
          <p:nvPr/>
        </p:nvSpPr>
        <p:spPr>
          <a:xfrm>
            <a:off x="358000" y="1388445"/>
            <a:ext cx="3862960" cy="258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Value Chain: Protection and confidence enable growth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59ED7-8BA7-9418-541E-D9BF12B5BD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577" b="20818"/>
          <a:stretch>
            <a:fillRect/>
          </a:stretch>
        </p:blipFill>
        <p:spPr>
          <a:xfrm>
            <a:off x="372358" y="1638166"/>
            <a:ext cx="4960217" cy="985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C53AD3-018A-010E-8AA5-C4B649CFCCC1}"/>
              </a:ext>
            </a:extLst>
          </p:cNvPr>
          <p:cNvSpPr txBox="1"/>
          <p:nvPr/>
        </p:nvSpPr>
        <p:spPr>
          <a:xfrm>
            <a:off x="358000" y="2602230"/>
            <a:ext cx="4051440" cy="258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1000"/>
              </a:spcAft>
              <a:buClr>
                <a:srgbClr val="00239C"/>
              </a:buClr>
            </a:pPr>
            <a:r>
              <a:rPr lang="en-US" sz="11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Operational Value: Structured evidence drives productivity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437042-F457-EF5D-E658-EF8BB4C04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827" b="19072"/>
          <a:stretch>
            <a:fillRect/>
          </a:stretch>
        </p:blipFill>
        <p:spPr>
          <a:xfrm>
            <a:off x="356232" y="2861147"/>
            <a:ext cx="4304046" cy="9196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7EE6CE-B845-87CF-E776-24E46DE42C33}"/>
              </a:ext>
            </a:extLst>
          </p:cNvPr>
          <p:cNvSpPr txBox="1"/>
          <p:nvPr/>
        </p:nvSpPr>
        <p:spPr>
          <a:xfrm>
            <a:off x="356233" y="4096388"/>
            <a:ext cx="5209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Issuing, acquiring, payments, membership, and ACE context create an end-to-end vantage point from confirmed intent to merchant outcome and Card Member resolution.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EE7592-20A5-2145-B98E-900B6CD1C2E0}"/>
              </a:ext>
            </a:extLst>
          </p:cNvPr>
          <p:cNvSpPr txBox="1"/>
          <p:nvPr/>
        </p:nvSpPr>
        <p:spPr>
          <a:xfrm>
            <a:off x="319350" y="4608983"/>
            <a:ext cx="8306490" cy="59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5"/>
              </a:spcAft>
            </a:pP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Dataset Source: 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PYMNTS Intelligence in collaboration with American Express, [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Recovering Revenue: A Merchant’s Guide to Automated Chargeback Management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] (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https://www.americanexpress.com/content/dam/amex/us/merchant/pdf/bcfm/PYMNTS-Recovering-Revenue-Tracker-August-2024.pdf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), August 2024. The report cites an average cost of 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$76 per dispute</a:t>
            </a:r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 across travel, retail, and software.</a:t>
            </a:r>
          </a:p>
          <a:p>
            <a:pPr>
              <a:spcAft>
                <a:spcPts val="125"/>
              </a:spcAft>
            </a:pPr>
            <a:endParaRPr lang="en-US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90CB3C-D091-7C59-A80F-ED8EFFFB6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366" y="1254172"/>
            <a:ext cx="2171694" cy="32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13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25C9E53-62F4-8E13-DB7A-BD87664D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C9A2236F-14C1-3C56-905B-6CCD3BE00B69}"/>
              </a:ext>
            </a:extLst>
          </p:cNvPr>
          <p:cNvSpPr/>
          <p:nvPr/>
        </p:nvSpPr>
        <p:spPr>
          <a:xfrm>
            <a:off x="-7620" y="-3271"/>
            <a:ext cx="9160800" cy="865800"/>
          </a:xfrm>
          <a:prstGeom prst="rect">
            <a:avLst/>
          </a:prstGeom>
          <a:solidFill>
            <a:srgbClr val="0024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3719B64-D4F3-FAC1-EFFB-298D984A1F17}"/>
              </a:ext>
            </a:extLst>
          </p:cNvPr>
          <p:cNvSpPr txBox="1"/>
          <p:nvPr/>
        </p:nvSpPr>
        <p:spPr>
          <a:xfrm>
            <a:off x="319350" y="148200"/>
            <a:ext cx="8513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 World Implementation: </a:t>
            </a:r>
            <a:r>
              <a:rPr lang="en-US" sz="2400" dirty="0">
                <a:solidFill>
                  <a:schemeClr val="l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Controlled Pilot </a:t>
            </a:r>
            <a:endParaRPr sz="1300" dirty="0">
              <a:solidFill>
                <a:schemeClr val="l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8BCE9-7139-312F-23DB-FE859EE9E5C9}"/>
              </a:ext>
            </a:extLst>
          </p:cNvPr>
          <p:cNvSpPr txBox="1"/>
          <p:nvPr/>
        </p:nvSpPr>
        <p:spPr>
          <a:xfrm>
            <a:off x="155085" y="4702912"/>
            <a:ext cx="896877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Pilot Mandate Assurance as ACE's outcome-integrity layer: validate protection first, then scale with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BCF90-A554-1C9E-1D0D-3C51F4835ED7}"/>
              </a:ext>
            </a:extLst>
          </p:cNvPr>
          <p:cNvSpPr txBox="1"/>
          <p:nvPr/>
        </p:nvSpPr>
        <p:spPr>
          <a:xfrm>
            <a:off x="358000" y="1317273"/>
            <a:ext cx="2577040" cy="156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Happens: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Connect confirmed mandate, recognized cart, and prior-state evidence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Authority: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Record recommendations without changing payment treatment. 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Amex learns: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Establish baselines for coverage, friction, latency, and disputes.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33631-0021-A882-C661-C91218370620}"/>
              </a:ext>
            </a:extLst>
          </p:cNvPr>
          <p:cNvSpPr txBox="1"/>
          <p:nvPr/>
        </p:nvSpPr>
        <p:spPr>
          <a:xfrm>
            <a:off x="358000" y="1000891"/>
            <a:ext cx="1399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Shadow Mode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8FD08-0429-E058-CDD3-CE8BF91B70E7}"/>
              </a:ext>
            </a:extLst>
          </p:cNvPr>
          <p:cNvSpPr txBox="1"/>
          <p:nvPr/>
        </p:nvSpPr>
        <p:spPr>
          <a:xfrm>
            <a:off x="2935040" y="1317273"/>
            <a:ext cx="2849692" cy="148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Happens: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Start with one English journey, merchant category, or controlled population.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Authority: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Allow the system to request confirmation but not independently hold a purchase. 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Amex learns: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Compare completion, intervention, and dispute outcomes with the shadow baseline.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FE757-7B46-74A4-9CBA-9F52B3EC94E2}"/>
              </a:ext>
            </a:extLst>
          </p:cNvPr>
          <p:cNvSpPr txBox="1"/>
          <p:nvPr/>
        </p:nvSpPr>
        <p:spPr>
          <a:xfrm>
            <a:off x="2935040" y="1000891"/>
            <a:ext cx="2693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Limited Card Member Information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ECF96-16E0-3946-5AEF-27991ED61809}"/>
              </a:ext>
            </a:extLst>
          </p:cNvPr>
          <p:cNvSpPr txBox="1"/>
          <p:nvPr/>
        </p:nvSpPr>
        <p:spPr>
          <a:xfrm>
            <a:off x="5934565" y="1317272"/>
            <a:ext cx="2890085" cy="1561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Happens: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Expand only after customer impact, reliability, and operational value are validated. 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Authority: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Add journeys or markets incrementally with monitoring and rollback readiness. 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r>
              <a:rPr lang="en-US" sz="900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Amex learns: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Any increase in model authority requires separate governance approval.</a:t>
            </a:r>
          </a:p>
          <a:p>
            <a:pPr>
              <a:lnSpc>
                <a:spcPts val="1440"/>
              </a:lnSpc>
              <a:spcAft>
                <a:spcPts val="600"/>
              </a:spcAft>
              <a:buClr>
                <a:srgbClr val="00239C"/>
              </a:buClr>
            </a:pP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3A843-BE8D-7409-3DE7-45944C222ABD}"/>
              </a:ext>
            </a:extLst>
          </p:cNvPr>
          <p:cNvSpPr txBox="1"/>
          <p:nvPr/>
        </p:nvSpPr>
        <p:spPr>
          <a:xfrm>
            <a:off x="5934566" y="1000890"/>
            <a:ext cx="2072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0023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Evidence-led Expansion</a:t>
            </a:r>
            <a:endParaRPr lang="en-US" sz="1050" dirty="0">
              <a:solidFill>
                <a:srgbClr val="00239C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58586-0D5A-2476-C843-D5032FB8157F}"/>
              </a:ext>
            </a:extLst>
          </p:cNvPr>
          <p:cNvSpPr txBox="1"/>
          <p:nvPr/>
        </p:nvSpPr>
        <p:spPr>
          <a:xfrm>
            <a:off x="319350" y="4362776"/>
            <a:ext cx="8640242" cy="257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100" dirty="0">
                <a:solidFill>
                  <a:srgbClr val="00239C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Card Member control and appeal · Data minimization · Evidence retention · Monitoring by slice ·</a:t>
            </a:r>
            <a:r>
              <a:rPr lang="en-US" sz="1100" dirty="0">
                <a:solidFill>
                  <a:srgbClr val="00239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100" dirty="0">
                <a:solidFill>
                  <a:srgbClr val="00239C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Deterministic fallback · Immediate rollback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745FB1-FB86-6618-2924-AD788299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151" b="37013"/>
          <a:stretch>
            <a:fillRect/>
          </a:stretch>
        </p:blipFill>
        <p:spPr>
          <a:xfrm>
            <a:off x="1086630" y="2803719"/>
            <a:ext cx="6970740" cy="1561133"/>
          </a:xfrm>
          <a:prstGeom prst="rect">
            <a:avLst/>
          </a:prstGeom>
        </p:spPr>
      </p:pic>
      <p:sp>
        <p:nvSpPr>
          <p:cNvPr id="18" name="Chevron 17">
            <a:extLst>
              <a:ext uri="{FF2B5EF4-FFF2-40B4-BE49-F238E27FC236}">
                <a16:creationId xmlns:a16="http://schemas.microsoft.com/office/drawing/2014/main" id="{A33A4F56-8151-2F4B-C311-0AEB4D6B4E18}"/>
              </a:ext>
            </a:extLst>
          </p:cNvPr>
          <p:cNvSpPr/>
          <p:nvPr/>
        </p:nvSpPr>
        <p:spPr>
          <a:xfrm>
            <a:off x="2793442" y="1771851"/>
            <a:ext cx="141598" cy="261257"/>
          </a:xfrm>
          <a:prstGeom prst="chevron">
            <a:avLst/>
          </a:prstGeom>
          <a:solidFill>
            <a:schemeClr val="bg1"/>
          </a:solidFill>
          <a:ln w="12700">
            <a:solidFill>
              <a:srgbClr val="002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9BCD401E-FE3C-FA78-2F6E-3E07DDC9C62D}"/>
              </a:ext>
            </a:extLst>
          </p:cNvPr>
          <p:cNvSpPr/>
          <p:nvPr/>
        </p:nvSpPr>
        <p:spPr>
          <a:xfrm>
            <a:off x="5784732" y="1771850"/>
            <a:ext cx="141598" cy="261257"/>
          </a:xfrm>
          <a:prstGeom prst="chevron">
            <a:avLst/>
          </a:prstGeom>
          <a:solidFill>
            <a:schemeClr val="bg1"/>
          </a:solidFill>
          <a:ln w="12700">
            <a:solidFill>
              <a:srgbClr val="002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7878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12863</TotalTime>
  <Words>1404</Words>
  <Application>Microsoft Macintosh PowerPoint</Application>
  <PresentationFormat>On-screen Show (16:9)</PresentationFormat>
  <Paragraphs>107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Segoe UI</vt:lpstr>
      <vt:lpstr>Segoe UI Light</vt:lpstr>
      <vt:lpstr>Segoe UI Semilight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Aaryan Ashokan Kandiah</cp:lastModifiedBy>
  <cp:revision>228</cp:revision>
  <dcterms:modified xsi:type="dcterms:W3CDTF">2026-08-29T08:16:16Z</dcterms:modified>
</cp:coreProperties>
</file>